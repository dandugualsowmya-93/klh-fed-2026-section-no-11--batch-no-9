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roxima Nova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roximaNova-bold.fntdata"/><Relationship Id="rId16" Type="http://schemas.openxmlformats.org/officeDocument/2006/relationships/font" Target="fonts/ProximaNova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-boldItalic.fntdata"/><Relationship Id="rId6" Type="http://schemas.openxmlformats.org/officeDocument/2006/relationships/slide" Target="slides/slide1.xml"/><Relationship Id="rId18" Type="http://schemas.openxmlformats.org/officeDocument/2006/relationships/font" Target="fonts/ProximaNov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a2a871e1f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a2a871e1f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a2a871e1f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a2a871e1f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a2a871e1f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a2a871e1f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a2a871e1f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a2a871e1f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a2a871e1f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a2a871e1f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a2a871e1f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a2a871e1f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a2a871e1f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a2a871e1f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a2a871e1f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a2a871e1f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a2a871e1f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a2a871e1f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image" Target="../media/image1.png"/><Relationship Id="rId7" Type="http://schemas.openxmlformats.org/officeDocument/2006/relationships/image" Target="../media/image5.png"/><Relationship Id="rId8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24.png"/><Relationship Id="rId7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Intelligent Traffic Signal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Decision System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300402"/>
            <a:ext cx="8123100" cy="1201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Combinational Logic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Presented by: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2620030692 Sathwika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2620030693  Sowmya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2620030694 Navaneeth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2620040019 Krithika Reddy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/>
        </p:nvSpPr>
        <p:spPr>
          <a:xfrm>
            <a:off x="3410400" y="29774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8BDF8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66900" y="4223975"/>
            <a:ext cx="907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E2E8F0"/>
              </a:solidFill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/>
          </a:blip>
          <a:srcRect b="0" l="2267" r="0" t="-1174"/>
          <a:stretch/>
        </p:blipFill>
        <p:spPr>
          <a:xfrm>
            <a:off x="152400" y="-139150"/>
            <a:ext cx="8991601" cy="531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2. Problem Statement</a:t>
            </a:r>
            <a:endParaRPr b="1">
              <a:solidFill>
                <a:srgbClr val="F5F7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64925" y="619375"/>
            <a:ext cx="6149100" cy="43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Limitations of a simple fixed-time signal</a:t>
            </a:r>
            <a:endParaRPr sz="12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Green time may be given to a road even when traffic is low.</a:t>
            </a:r>
            <a:endParaRPr sz="1900">
              <a:solidFill>
                <a:srgbClr val="F5F7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A crowded direction may have to wait for a fixed cycle.</a:t>
            </a:r>
            <a:endParaRPr sz="1900">
              <a:solidFill>
                <a:srgbClr val="F5F7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Emergency vehicles need priority over normal traffic.</a:t>
            </a:r>
            <a:endParaRPr sz="1900">
              <a:solidFill>
                <a:srgbClr val="F5F7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A low-cost logic-based solution is useful for learning and prototype simulation.</a:t>
            </a:r>
            <a:endParaRPr sz="1900">
              <a:solidFill>
                <a:srgbClr val="F5F7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5F7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8BDF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6621575" y="619375"/>
            <a:ext cx="2436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38BDF8"/>
                </a:solidFill>
              </a:rPr>
              <a:t>Decision inputs</a:t>
            </a:r>
            <a:endParaRPr b="1" sz="1700">
              <a:solidFill>
                <a:srgbClr val="38BDF8"/>
              </a:solidFill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 b="-25432" l="-135599" r="116139" t="67275"/>
          <a:stretch/>
        </p:blipFill>
        <p:spPr>
          <a:xfrm>
            <a:off x="2111050" y="1772250"/>
            <a:ext cx="6184749" cy="95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7675" y="1165200"/>
            <a:ext cx="2740200" cy="86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7675" y="2243525"/>
            <a:ext cx="2779625" cy="95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10225" y="3469250"/>
            <a:ext cx="2787075" cy="99922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/>
        </p:nvSpPr>
        <p:spPr>
          <a:xfrm>
            <a:off x="6444125" y="1531800"/>
            <a:ext cx="248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E2E8F0"/>
                </a:solidFill>
              </a:rPr>
              <a:t>N–S traffic high</a:t>
            </a:r>
            <a:endParaRPr>
              <a:solidFill>
                <a:srgbClr val="E2E8F0"/>
              </a:solidFill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6339725" y="3927113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E2E8F0"/>
                </a:solidFill>
              </a:rPr>
              <a:t>Emergency</a:t>
            </a:r>
            <a:endParaRPr>
              <a:solidFill>
                <a:srgbClr val="E2E8F0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6418000" y="2618363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E2E8F0"/>
                </a:solidFill>
              </a:rPr>
              <a:t>E–W traffic high</a:t>
            </a:r>
            <a:endParaRPr>
              <a:solidFill>
                <a:srgbClr val="E2E8F0"/>
              </a:solidFill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6418000" y="1112450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</a:rPr>
              <a:t> </a:t>
            </a:r>
            <a:r>
              <a:rPr lang="en-GB" sz="1700">
                <a:solidFill>
                  <a:srgbClr val="00FFFF"/>
                </a:solidFill>
              </a:rPr>
              <a:t>A</a:t>
            </a:r>
            <a:endParaRPr sz="1700">
              <a:solidFill>
                <a:srgbClr val="00FFFF"/>
              </a:solidFill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6339725" y="2243513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F5B731"/>
                </a:solidFill>
              </a:rPr>
              <a:t>B</a:t>
            </a:r>
            <a:endParaRPr b="1" sz="1700">
              <a:solidFill>
                <a:srgbClr val="F5B731"/>
              </a:solidFill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6339725" y="35103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F4444"/>
                </a:solidFill>
              </a:rPr>
              <a:t>C</a:t>
            </a:r>
            <a:r>
              <a:rPr lang="en-GB" sz="1100">
                <a:solidFill>
                  <a:srgbClr val="EF4444"/>
                </a:solidFill>
              </a:rPr>
              <a:t> </a:t>
            </a:r>
            <a:endParaRPr>
              <a:solidFill>
                <a:srgbClr val="EF4444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162225" y="93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3. Objectives</a:t>
            </a:r>
            <a:endParaRPr b="1">
              <a:solidFill>
                <a:srgbClr val="F5F7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What the project is designed to achieve</a:t>
            </a:r>
            <a:endParaRPr sz="12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950" y="1100150"/>
            <a:ext cx="3886201" cy="156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2775" y="1100150"/>
            <a:ext cx="4013699" cy="152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2225" y="3047025"/>
            <a:ext cx="4364256" cy="156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2775" y="3018337"/>
            <a:ext cx="4141176" cy="16232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/>
          <p:nvPr/>
        </p:nvSpPr>
        <p:spPr>
          <a:xfrm>
            <a:off x="360475" y="1151800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38BDF8"/>
                </a:solidFill>
              </a:rPr>
              <a:t>Detect condition</a:t>
            </a:r>
            <a:endParaRPr b="1" sz="1700">
              <a:solidFill>
                <a:srgbClr val="38BDF8"/>
              </a:solidFill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4870925" y="1151800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38BDF8"/>
                </a:solidFill>
              </a:rPr>
              <a:t>Make decision</a:t>
            </a:r>
            <a:endParaRPr b="1" sz="1700">
              <a:solidFill>
                <a:srgbClr val="38BDF8"/>
              </a:solidFill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316525" y="3100125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22C55E"/>
                </a:solidFill>
              </a:rPr>
              <a:t>Give priority</a:t>
            </a:r>
            <a:endParaRPr b="1" sz="1700">
              <a:solidFill>
                <a:srgbClr val="22C55E"/>
              </a:solidFill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4920750" y="30183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6AA84F"/>
                </a:solidFill>
              </a:rPr>
              <a:t>Simulate</a:t>
            </a:r>
            <a:r>
              <a:rPr lang="en-GB" sz="1100">
                <a:solidFill>
                  <a:srgbClr val="6AA84F"/>
                </a:solidFill>
              </a:rPr>
              <a:t> 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360475" y="1723300"/>
            <a:ext cx="300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E2E8F0"/>
                </a:solidFill>
              </a:rPr>
              <a:t>Represent traffic and emergency conditions using digital inputs.</a:t>
            </a:r>
            <a:endParaRPr>
              <a:solidFill>
                <a:srgbClr val="E2E8F0"/>
              </a:solidFill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5011600" y="1598200"/>
            <a:ext cx="300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E2E8F0"/>
                </a:solidFill>
              </a:rPr>
              <a:t>Use Boolean logic to select the appropriate traffic direction.</a:t>
            </a:r>
            <a:endParaRPr>
              <a:solidFill>
                <a:srgbClr val="E2E8F0"/>
              </a:solidFill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387325" y="3593425"/>
            <a:ext cx="29463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E2E8F0"/>
                </a:solidFill>
              </a:rPr>
              <a:t>Allow an emergency input to override normal traffic selection.</a:t>
            </a:r>
            <a:endParaRPr>
              <a:solidFill>
                <a:srgbClr val="E2E8F0"/>
              </a:solidFill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4967650" y="3480050"/>
            <a:ext cx="300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E2E8F0"/>
                </a:solidFill>
              </a:rPr>
              <a:t>Verify the truth table and outputs using a digital logic simulator.</a:t>
            </a:r>
            <a:endParaRPr>
              <a:solidFill>
                <a:srgbClr val="E2E8F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4. System Inputs &amp; Outputs</a:t>
            </a:r>
            <a:endParaRPr b="1">
              <a:solidFill>
                <a:srgbClr val="F5F7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Three binary inputs are used for a simple prototype</a:t>
            </a:r>
            <a:endParaRPr sz="12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000" y="1385900"/>
            <a:ext cx="2479450" cy="128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0775" y="1385900"/>
            <a:ext cx="2822450" cy="128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7"/>
          <p:cNvPicPr preferRelativeResize="0"/>
          <p:nvPr/>
        </p:nvPicPr>
        <p:blipFill rotWithShape="1">
          <a:blip r:embed="rId5">
            <a:alphaModFix/>
          </a:blip>
          <a:srcRect b="-23440" l="-103440" r="103440" t="23440"/>
          <a:stretch/>
        </p:blipFill>
        <p:spPr>
          <a:xfrm>
            <a:off x="2418850" y="1763775"/>
            <a:ext cx="3314700" cy="150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7975" y="1385900"/>
            <a:ext cx="2963250" cy="134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3000" y="3096850"/>
            <a:ext cx="2527051" cy="121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25825" y="3136675"/>
            <a:ext cx="2849422" cy="121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19225" y="3184775"/>
            <a:ext cx="2822450" cy="120595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7"/>
          <p:cNvSpPr txBox="1"/>
          <p:nvPr/>
        </p:nvSpPr>
        <p:spPr>
          <a:xfrm>
            <a:off x="545125" y="1424350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38BDF8"/>
                </a:solidFill>
              </a:rPr>
              <a:t>A — N–S Traffic</a:t>
            </a:r>
            <a:endParaRPr b="1" sz="1700">
              <a:solidFill>
                <a:srgbClr val="38BDF8"/>
              </a:solidFill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3279550" y="1424350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F5B731"/>
                </a:solidFill>
              </a:rPr>
              <a:t>B — E–W Traffic</a:t>
            </a:r>
            <a:endParaRPr b="1" sz="1700">
              <a:solidFill>
                <a:srgbClr val="F5B731"/>
              </a:solidFill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6219225" y="1470325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EF4444"/>
                </a:solidFill>
              </a:rPr>
              <a:t>C — Emergency</a:t>
            </a:r>
            <a:endParaRPr b="1" sz="1700">
              <a:solidFill>
                <a:srgbClr val="EF4444"/>
              </a:solidFill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458175" y="31366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C55E"/>
                </a:solidFill>
              </a:rPr>
              <a:t>GNS</a:t>
            </a:r>
            <a:r>
              <a:rPr lang="en-GB" sz="1100">
                <a:solidFill>
                  <a:srgbClr val="22C55E"/>
                </a:solidFill>
              </a:rPr>
              <a:t> </a:t>
            </a:r>
            <a:endParaRPr>
              <a:solidFill>
                <a:srgbClr val="22C55E"/>
              </a:solidFill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3323525" y="31847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C55E"/>
                </a:solidFill>
              </a:rPr>
              <a:t>GEW</a:t>
            </a:r>
            <a:r>
              <a:rPr lang="en-GB" sz="1100">
                <a:solidFill>
                  <a:srgbClr val="22C55E"/>
                </a:solidFill>
              </a:rPr>
              <a:t> </a:t>
            </a:r>
            <a:endParaRPr>
              <a:solidFill>
                <a:srgbClr val="22C55E"/>
              </a:solidFill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6279550" y="3264425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F5B731"/>
                </a:solidFill>
              </a:rPr>
              <a:t>Y / HOLD</a:t>
            </a:r>
            <a:endParaRPr b="1" sz="1700">
              <a:solidFill>
                <a:srgbClr val="F5B731"/>
              </a:solidFill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311700" y="4568875"/>
            <a:ext cx="8292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EF4444"/>
                </a:solidFill>
              </a:rPr>
              <a:t>Priority rule: C = 1 → emergency mode; normal traffic selection is disabled.</a:t>
            </a:r>
            <a:endParaRPr b="1" sz="1700">
              <a:solidFill>
                <a:srgbClr val="EF4444"/>
              </a:solidFill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545125" y="1870750"/>
            <a:ext cx="300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E2E8F0"/>
                </a:solidFill>
              </a:rPr>
              <a:t>1 = high traffic</a:t>
            </a:r>
            <a:br>
              <a:rPr lang="en-GB">
                <a:solidFill>
                  <a:srgbClr val="E2E8F0"/>
                </a:solidFill>
              </a:rPr>
            </a:br>
            <a:r>
              <a:rPr lang="en-GB">
                <a:solidFill>
                  <a:srgbClr val="E2E8F0"/>
                </a:solidFill>
              </a:rPr>
              <a:t> 0 = low traffic</a:t>
            </a:r>
            <a:endParaRPr>
              <a:solidFill>
                <a:srgbClr val="E2E8F0"/>
              </a:solidFill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3225825" y="1777250"/>
            <a:ext cx="300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E2E8F0"/>
                </a:solidFill>
              </a:rPr>
              <a:t>1 = high traffic</a:t>
            </a:r>
            <a:br>
              <a:rPr lang="en-GB">
                <a:solidFill>
                  <a:srgbClr val="E2E8F0"/>
                </a:solidFill>
              </a:rPr>
            </a:br>
            <a:r>
              <a:rPr lang="en-GB">
                <a:solidFill>
                  <a:srgbClr val="E2E8F0"/>
                </a:solidFill>
              </a:rPr>
              <a:t> 0 = low traffic</a:t>
            </a:r>
            <a:endParaRPr>
              <a:solidFill>
                <a:srgbClr val="E2E8F0"/>
              </a:solidFill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6241550" y="1870750"/>
            <a:ext cx="300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E2E8F0"/>
                </a:solidFill>
              </a:rPr>
              <a:t>1 = emergency present</a:t>
            </a:r>
            <a:br>
              <a:rPr lang="en-GB">
                <a:solidFill>
                  <a:srgbClr val="E2E8F0"/>
                </a:solidFill>
              </a:rPr>
            </a:br>
            <a:r>
              <a:rPr lang="en-GB">
                <a:solidFill>
                  <a:srgbClr val="E2E8F0"/>
                </a:solidFill>
              </a:rPr>
              <a:t> 0 = normal operation</a:t>
            </a:r>
            <a:endParaRPr>
              <a:solidFill>
                <a:srgbClr val="E2E8F0"/>
              </a:solidFill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458175" y="35876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E2E8F0"/>
                </a:solidFill>
              </a:rPr>
              <a:t>North–South green signal</a:t>
            </a:r>
            <a:endParaRPr>
              <a:solidFill>
                <a:srgbClr val="E2E8F0"/>
              </a:solidFill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3369775" y="36464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E2E8F0"/>
                </a:solidFill>
              </a:rPr>
              <a:t>East–West green signal</a:t>
            </a:r>
            <a:endParaRPr>
              <a:solidFill>
                <a:srgbClr val="E2E8F0"/>
              </a:solidFill>
            </a:endParaRPr>
          </a:p>
        </p:txBody>
      </p:sp>
      <p:pic>
        <p:nvPicPr>
          <p:cNvPr id="127" name="Google Shape;127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98375" y="3598375"/>
            <a:ext cx="2822450" cy="664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5. Combinational Logic Design</a:t>
            </a:r>
            <a:endParaRPr b="1">
              <a:solidFill>
                <a:srgbClr val="F5F7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Boolean expressions for the normal operating mode</a:t>
            </a:r>
            <a:endParaRPr sz="12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8"/>
          <p:cNvSpPr txBox="1"/>
          <p:nvPr>
            <p:ph idx="1" type="body"/>
          </p:nvPr>
        </p:nvSpPr>
        <p:spPr>
          <a:xfrm>
            <a:off x="311700" y="3940900"/>
            <a:ext cx="8520600" cy="7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If A = B, neither normal green output is asserted. The controller can keep yellow/all-red for safe transition.</a:t>
            </a:r>
            <a:endParaRPr sz="1700">
              <a:solidFill>
                <a:srgbClr val="E2E8F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3600"/>
            <a:ext cx="3812551" cy="50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937" y="1654800"/>
            <a:ext cx="3120072" cy="50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1101" y="1619625"/>
            <a:ext cx="3120049" cy="50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5875" y="2156450"/>
            <a:ext cx="3704725" cy="151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06938" y="2101538"/>
            <a:ext cx="4248375" cy="162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/>
        </p:nvSpPr>
        <p:spPr>
          <a:xfrm>
            <a:off x="492375" y="2248463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8BDF8"/>
                </a:solidFill>
              </a:rPr>
              <a:t>Meaning</a:t>
            </a:r>
            <a:r>
              <a:rPr lang="en-GB" sz="1100">
                <a:solidFill>
                  <a:srgbClr val="38BDF8"/>
                </a:solidFill>
              </a:rPr>
              <a:t> </a:t>
            </a:r>
            <a:endParaRPr>
              <a:solidFill>
                <a:srgbClr val="38BDF8"/>
              </a:solidFill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4921000" y="21564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B731"/>
                </a:solidFill>
              </a:rPr>
              <a:t>Meaning</a:t>
            </a:r>
            <a:r>
              <a:rPr lang="en-GB" sz="1100">
                <a:solidFill>
                  <a:srgbClr val="F5B731"/>
                </a:solidFill>
              </a:rPr>
              <a:t> </a:t>
            </a:r>
            <a:endParaRPr>
              <a:solidFill>
                <a:srgbClr val="F5B731"/>
              </a:solidFill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561200" y="2600763"/>
            <a:ext cx="30000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E2E8F0"/>
                </a:solidFill>
              </a:rPr>
              <a:t>N–S gets green when N–S traffic is high, E–W traffic is low, and there is no emergency.</a:t>
            </a:r>
            <a:endParaRPr>
              <a:solidFill>
                <a:srgbClr val="E2E8F0"/>
              </a:solidFill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5143500" y="2583188"/>
            <a:ext cx="30000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E2E8F0"/>
                </a:solidFill>
              </a:rPr>
              <a:t>E–W gets green when E–W traffic is high, N–S traffic is low, and there is no emergency.</a:t>
            </a:r>
            <a:endParaRPr>
              <a:solidFill>
                <a:srgbClr val="E2E8F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 = HIGH/ON, 0 = LOW/OFF</a:t>
            </a:r>
            <a:endParaRPr sz="12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F5F7FA"/>
                </a:solidFill>
              </a:rPr>
              <a:t>6. Truth Table</a:t>
            </a:r>
            <a:endParaRPr b="1" sz="2800">
              <a:solidFill>
                <a:srgbClr val="F5F7FA"/>
              </a:solidFill>
            </a:endParaRPr>
          </a:p>
        </p:txBody>
      </p: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450" y="714125"/>
            <a:ext cx="8581576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450" y="4594000"/>
            <a:ext cx="8024967" cy="26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2975" y="0"/>
            <a:ext cx="930142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0925" y="0"/>
            <a:ext cx="9219448" cy="53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19025"/>
            <a:ext cx="623385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839204" cy="59249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2"/>
          <p:cNvSpPr txBox="1"/>
          <p:nvPr/>
        </p:nvSpPr>
        <p:spPr>
          <a:xfrm>
            <a:off x="61725" y="5379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3"/>
                </a:solidFill>
              </a:rPr>
              <a:t>Summary</a:t>
            </a:r>
            <a:r>
              <a:rPr lang="en-GB" sz="1100">
                <a:solidFill>
                  <a:schemeClr val="accent3"/>
                </a:solidFill>
              </a:rPr>
              <a:t> </a:t>
            </a:r>
            <a:endParaRPr>
              <a:solidFill>
                <a:schemeClr val="accent3"/>
              </a:solidFill>
            </a:endParaRPr>
          </a:p>
        </p:txBody>
      </p:sp>
      <p:pic>
        <p:nvPicPr>
          <p:cNvPr id="169" name="Google Shape;16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450" y="252825"/>
            <a:ext cx="2705900" cy="184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2"/>
          <p:cNvSpPr txBox="1"/>
          <p:nvPr/>
        </p:nvSpPr>
        <p:spPr>
          <a:xfrm>
            <a:off x="6482300" y="3792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8BDF8"/>
                </a:solidFill>
              </a:rPr>
              <a:t>Takeaway</a:t>
            </a:r>
            <a:r>
              <a:rPr lang="en-GB" sz="1100">
                <a:solidFill>
                  <a:srgbClr val="38BDF8"/>
                </a:solidFill>
              </a:rPr>
              <a:t> </a:t>
            </a:r>
            <a:endParaRPr>
              <a:solidFill>
                <a:srgbClr val="38BDF8"/>
              </a:solidFill>
            </a:endParaRPr>
          </a:p>
        </p:txBody>
      </p:sp>
      <p:sp>
        <p:nvSpPr>
          <p:cNvPr id="171" name="Google Shape;171;p22"/>
          <p:cNvSpPr txBox="1"/>
          <p:nvPr/>
        </p:nvSpPr>
        <p:spPr>
          <a:xfrm>
            <a:off x="6589100" y="840950"/>
            <a:ext cx="22491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E2E8F0"/>
                </a:solidFill>
              </a:rPr>
              <a:t>Present input → logic → output → simulation. This makes the project easy to explain and demonstrate.</a:t>
            </a:r>
            <a:endParaRPr>
              <a:solidFill>
                <a:srgbClr val="E2E8F0"/>
              </a:solidFill>
            </a:endParaRPr>
          </a:p>
        </p:txBody>
      </p:sp>
      <p:pic>
        <p:nvPicPr>
          <p:cNvPr id="172" name="Google Shape;17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44000" y="2255850"/>
            <a:ext cx="3000000" cy="71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