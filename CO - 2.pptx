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143000"/>
            <a:ext cx="9875520" cy="1143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35B9B"/>
                </a:solidFill>
                <a:latin typeface="Aptos"/>
              </a:defRPr>
            </a:pPr>
            <a:r>
              <a:t>INTELLIGENT TRAFFIC SIGNAL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235B9B"/>
                </a:solidFill>
                <a:latin typeface="Aptos"/>
              </a:defRPr>
            </a:pPr>
            <a:r>
              <a:t>DECISION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395728"/>
            <a:ext cx="914400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900" b="0">
                <a:solidFill>
                  <a:srgbClr val="192D46"/>
                </a:solidFill>
                <a:latin typeface="Aptos"/>
              </a:defRPr>
            </a:pPr>
            <a:r>
              <a:t>Design and simulation using combinational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71800"/>
            <a:ext cx="8046720" cy="4114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5A6978"/>
                </a:solidFill>
                <a:latin typeface="Aptos"/>
              </a:defRPr>
            </a:pPr>
            <a:r>
              <a:t>Digital Design &amp; Computer Architecture (DDCA)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3657600"/>
            <a:ext cx="914400" cy="1828800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59552" y="3822191"/>
            <a:ext cx="475488" cy="475488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59552" y="4325112"/>
            <a:ext cx="475488" cy="475488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9552" y="4828031"/>
            <a:ext cx="475488" cy="475488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504688"/>
            <a:ext cx="566928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5A6978"/>
                </a:solidFill>
                <a:latin typeface="Aptos"/>
              </a:defRPr>
            </a:pPr>
            <a:r>
              <a:t>Logisim / digital-logic simulation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234440"/>
            <a:ext cx="530352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344168"/>
            <a:ext cx="508406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Why intelligent traffic control?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719072"/>
            <a:ext cx="508406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Fixed-time traffic signals may not respond to changing traffic conditions.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Uneven vehicle density can cause unnecessary waiting and congestion.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Emergency vehicles may require immediate priority.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 digital decision system can process sensor inputs and select the required signal state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234440"/>
            <a:ext cx="516636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344168"/>
            <a:ext cx="49469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19072"/>
            <a:ext cx="494690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Use binary inputs from traffic sensors.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Apply Boolean logic and combinational circuits.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Generate red, yellow and green control outputs.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Verify the design using a truth table and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Develop a combinational traffic decision system.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Represent traffic conditions using binary inputs.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Create simplified Boolean expressions.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Use NOT, AND and OR gates.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Build the logic in Logisim.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Generate mutually controlled traffic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Prepare the truth table.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Test normal, congested and emergency cases.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Compare simulated outputs with expected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4. System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65960"/>
            <a:ext cx="2148840" cy="15544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267712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35B9B"/>
                </a:solidFill>
                <a:latin typeface="Aptos"/>
              </a:defRPr>
            </a:pPr>
            <a:r>
              <a:t>Traffic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43200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D, P, 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34639" y="2487168"/>
            <a:ext cx="530352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1965960"/>
            <a:ext cx="2148840" cy="15544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2267712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35B9B"/>
                </a:solidFill>
                <a:latin typeface="Aptos"/>
              </a:defRPr>
            </a:pPr>
            <a:r>
              <a:t>Logic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2743200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AND / OR / NOT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577840" y="2487168"/>
            <a:ext cx="530352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1965960"/>
            <a:ext cx="2148840" cy="15544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267712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35B9B"/>
                </a:solidFill>
                <a:latin typeface="Aptos"/>
              </a:defRPr>
            </a:pPr>
            <a:r>
              <a:t>Decision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743200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Priority logic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2487168"/>
            <a:ext cx="530352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0" y="1965960"/>
            <a:ext cx="2148840" cy="15544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2267712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35B9B"/>
                </a:solidFill>
                <a:latin typeface="Aptos"/>
              </a:defRPr>
            </a:pPr>
            <a:r>
              <a:t>Traffic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2743200"/>
            <a:ext cx="19202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R / Y /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160520"/>
            <a:ext cx="9692640" cy="6858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192D46"/>
                </a:solidFill>
                <a:latin typeface="Aptos"/>
              </a:defRPr>
            </a:pPr>
            <a:r>
              <a:t>Inputs are evaluated continuously; the combinational logic determines which traffic indication should be 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5. Input Variables / Sensors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280160"/>
            <a:ext cx="3474720" cy="43891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38988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D — Traffic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1764792"/>
            <a:ext cx="3255263" cy="38221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0 = low/normal density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1 = high density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Represents whether the monitored approach has significant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280160"/>
            <a:ext cx="3474720" cy="43891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38988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P — Pedestrian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764792"/>
            <a:ext cx="3255263" cy="38221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0 = no crossing request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1 = pedestrian crossing request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Used to trigger a controlled transition for pedestrians.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1280160"/>
            <a:ext cx="3474720" cy="43891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38988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CD4141"/>
                </a:solidFill>
                <a:latin typeface="Aptos"/>
              </a:defRPr>
            </a:pPr>
            <a:r>
              <a:t>E — Emergency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1764792"/>
            <a:ext cx="3255263" cy="38221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0 = normal operation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1 = emergency vehicle detected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Emergency input receives highest decision priority.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6. Decision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234440"/>
            <a:ext cx="539496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344168"/>
            <a:ext cx="51755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Priority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1719072"/>
            <a:ext cx="517550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If E = 1, the system enters emergency-priority mode.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If E = 0 and P = 1, the system provides a safe pedestrian transition.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If E = 0 and P = 0, traffic density D controls normal signal timing.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The logic is combinational: outputs depend on the present input combination.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234440"/>
            <a:ext cx="507492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344168"/>
            <a:ext cx="485546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Normal-mode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719072"/>
            <a:ext cx="485546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D = 0 → normal/low traffic 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D = 1 → high traffic 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The controller can allocate the green phase to the selected approach when density is high, while maintaining yellow and red safety states during transitions.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7. Truth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123444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5A6978"/>
                </a:solidFill>
                <a:latin typeface="Aptos"/>
              </a:defRPr>
            </a:pPr>
            <a:r>
              <a:t>E = emergency, P = pedestrian request, D = high density. R/Y/G are red, yellow and green control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8. Boolean Expressions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234440"/>
            <a:ext cx="3383280" cy="182880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1344168"/>
            <a:ext cx="316382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CD4141"/>
                </a:solidFill>
                <a:latin typeface="Aptos"/>
              </a:defRPr>
            </a:pPr>
            <a:r>
              <a:t>Red output (R)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1719072"/>
            <a:ext cx="3163824" cy="12618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R = E + P·D̅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1234440"/>
            <a:ext cx="3383280" cy="182880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344168"/>
            <a:ext cx="316382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6AF2D"/>
                </a:solidFill>
                <a:latin typeface="Aptos"/>
              </a:defRPr>
            </a:pPr>
            <a:r>
              <a:t>Yellow output (Y)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1719072"/>
            <a:ext cx="3163824" cy="12618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Y = E̅·P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1234440"/>
            <a:ext cx="3383280" cy="182880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3" y="1344168"/>
            <a:ext cx="316382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7965A"/>
                </a:solidFill>
                <a:latin typeface="Aptos"/>
              </a:defRPr>
            </a:pPr>
            <a:r>
              <a:t>Green output (G)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1719072"/>
            <a:ext cx="3163824" cy="12618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G = E̅·P̅·D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3474720"/>
            <a:ext cx="9738360" cy="17830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4168" y="3584448"/>
            <a:ext cx="95189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959352"/>
            <a:ext cx="9518904" cy="12161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NOT gates generate complemented inputs such as E̅ and P̅.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AND gates form conditions; OR combines alternative conditions.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The expressions can be simplified further using Boolean algebra or K-Maps.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9. K-Map / Simplification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1234440"/>
            <a:ext cx="521208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1344168"/>
            <a:ext cx="499262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7965A"/>
                </a:solidFill>
                <a:latin typeface="Aptos"/>
              </a:defRPr>
            </a:pPr>
            <a:r>
              <a:t>Example: Green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1719072"/>
            <a:ext cx="499262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For G = 1, the required condition is: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E = 0, P = 0, D = 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Therefore: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G = E̅ · P̅ · 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The K-Map confirms the minterm corresponding to this operating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521208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344168"/>
            <a:ext cx="499262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Why simplify?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719072"/>
            <a:ext cx="499262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Fewer gates can reduce circuit complexity.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Shorter expressions are easier to implement in Logisim.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Simplification improves readability and verification.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Each output can be tested independently against the truth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10. Logic Gates 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417320"/>
            <a:ext cx="3200400" cy="30175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1527048"/>
            <a:ext cx="29809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1901952"/>
            <a:ext cx="2980944" cy="24505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Inverts an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834640"/>
            <a:ext cx="1188720" cy="640080"/>
          </a:xfrm>
          <a:prstGeom prst="roundRect">
            <a:avLst/>
          </a:prstGeom>
          <a:solidFill>
            <a:srgbClr val="3A82BE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2980944"/>
            <a:ext cx="1097280" cy="2743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17320"/>
            <a:ext cx="3200400" cy="30175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1527048"/>
            <a:ext cx="29809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1901952"/>
            <a:ext cx="2980944" cy="24505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All required inputs must be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2834640"/>
            <a:ext cx="1188720" cy="640080"/>
          </a:xfrm>
          <a:prstGeom prst="roundRect">
            <a:avLst/>
          </a:prstGeom>
          <a:solidFill>
            <a:srgbClr val="3A82BE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980944"/>
            <a:ext cx="1097280" cy="2743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1417320"/>
            <a:ext cx="3200400" cy="301752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1527048"/>
            <a:ext cx="29809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1901952"/>
            <a:ext cx="2980944" cy="245059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Any active condition can produce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2834640"/>
            <a:ext cx="1188720" cy="640080"/>
          </a:xfrm>
          <a:prstGeom prst="roundRect">
            <a:avLst/>
          </a:prstGeom>
          <a:solidFill>
            <a:srgbClr val="3A82BE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980944"/>
            <a:ext cx="1097280" cy="2743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11. System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508760"/>
            <a:ext cx="2331720" cy="20116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719072"/>
            <a:ext cx="21488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Traffic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12848"/>
            <a:ext cx="1874519" cy="10058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Density D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Pedestrian P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Emergency 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52928" y="2240280"/>
            <a:ext cx="566928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1508760"/>
            <a:ext cx="2331720" cy="20116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719072"/>
            <a:ext cx="21488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Logic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212848"/>
            <a:ext cx="1874519" cy="10058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NOT gates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AND / OR gates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Boolean expressions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79008" y="2240280"/>
            <a:ext cx="566928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508760"/>
            <a:ext cx="2331720" cy="20116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19072"/>
            <a:ext cx="21488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Decision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12848"/>
            <a:ext cx="1874519" cy="10058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Priority logic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Signal-state selection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05088" y="2240280"/>
            <a:ext cx="566928" cy="411480"/>
          </a:xfrm>
          <a:prstGeom prst="rightArrow">
            <a:avLst/>
          </a:prstGeom>
          <a:solidFill>
            <a:srgbClr val="3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1508760"/>
            <a:ext cx="2331720" cy="201168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719072"/>
            <a:ext cx="214884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212848"/>
            <a:ext cx="1874519" cy="10058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Red R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Yellow Y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192D46"/>
                </a:solidFill>
                <a:latin typeface="Aptos"/>
              </a:defRPr>
            </a:pPr>
            <a:r>
              <a:t>Green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51960"/>
            <a:ext cx="9326880" cy="4114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92D46"/>
                </a:solidFill>
                <a:latin typeface="Aptos"/>
              </a:defRPr>
            </a:pPr>
            <a:r>
              <a:t>The modular structure makes the design easier to test, simulate and extend.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12. Hardware / Simulation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Traffic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Vehicle-density sensor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Pedestrian request sensor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Emergency-vehicle detector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Provide binary signals to the logic circuit.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Logic /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Digital logic gates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Combinational decision circuit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Logisim implementation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Processes the current sensor inputs.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1234440"/>
            <a:ext cx="342900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344168"/>
            <a:ext cx="32095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Signal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1719072"/>
            <a:ext cx="3209544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Red LED / signal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Yellow LED / signal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Green LED / signal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Can be connected to a physical controller in an extended prototype.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13. Control Algorithm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28016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463039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1.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1920239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Initialize inputs and outputs.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28016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463039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2.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39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Read E, P and 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28016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463039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3.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1920239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Evaluate emergency priority first.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2900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11880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4. 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069080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Apply Boolean expressions.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42900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611880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5.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069080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Update R, Y and 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429000"/>
            <a:ext cx="3246120" cy="1417320"/>
          </a:xfrm>
          <a:prstGeom prst="roundRect">
            <a:avLst/>
          </a:prstGeom>
          <a:solidFill>
            <a:srgbClr val="F8FCFF"/>
          </a:solidFill>
          <a:ln>
            <a:solidFill>
              <a:srgbClr val="3A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611880"/>
            <a:ext cx="297180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6. REPEAT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069080"/>
            <a:ext cx="29260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Continue monitoring the inputs.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14. Simulation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134416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Case 1 —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719072"/>
            <a:ext cx="3255263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 = 0, P = 0, D = 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Normal traffic condition.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Red/green selection follows the designed normal-mode logic.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234440"/>
            <a:ext cx="347472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34416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Case 2 — High Density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719072"/>
            <a:ext cx="3255263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 = 0, P = 0, D = 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High vehicle density is detected.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Green output becomes active for the selected approach.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234440"/>
            <a:ext cx="3474720" cy="4480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3" y="1344168"/>
            <a:ext cx="3255263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Case 3 — Emergency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1719072"/>
            <a:ext cx="3255263" cy="391363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 = 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Emergency priority overrides normal traffic conditions.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Red is asserted for the protected conflicting movement.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15. Expected Simulation Results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23444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235B9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Normal / low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R=1, Y=0, G=0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High traffic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R=0, Y=0, G=1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Pedestrian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R=0, Y=1, G=0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Pedestrian + high density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R=0, Y=1, G=0</a:t>
                      </a:r>
                    </a:p>
                  </a:txBody>
                  <a:tcPr>
                    <a:solidFill>
                      <a:srgbClr val="F8FC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Emergency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2D46"/>
                          </a:solidFill>
                          <a:latin typeface="Aptos"/>
                        </a:defRPr>
                      </a:pPr>
                      <a:r>
                        <a:t>R=1, Y=0, G=0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0" y="5650992"/>
            <a:ext cx="10332720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5A6978"/>
                </a:solidFill>
                <a:latin typeface="Aptos"/>
              </a:defRPr>
            </a:pPr>
            <a:r>
              <a:t>X = don't-care input in emergency-priority mode. Verify every row in Logisim.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16. Applications, Advantages &amp; Future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234440"/>
            <a:ext cx="356616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1344168"/>
            <a:ext cx="33467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719072"/>
            <a:ext cx="334670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Smart city intersections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Busy junctions and highways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School / hospital zones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Emergency vehicle priority systems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Adaptive traffic-management prototypes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1234440"/>
            <a:ext cx="356616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1344168"/>
            <a:ext cx="33467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1719072"/>
            <a:ext cx="334670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Fast digital decision making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Simple combinational implementation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Easy simulation and verification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Reduces dependence on fixed conditions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Can be expanded with additional sensors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1234440"/>
            <a:ext cx="356616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3" y="1344168"/>
            <a:ext cx="33467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3" y="1719072"/>
            <a:ext cx="334670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Multiple-road adaptive control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IoT traffic monitoring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Camera-based vehicle detection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Mobile / control-room alerts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Fault detection and event logging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AI-assisted traffic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17. DDCA Concepts Demonstrated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234440"/>
            <a:ext cx="530352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344168"/>
            <a:ext cx="508406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Core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719072"/>
            <a:ext cx="508406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Binary representation of sensor states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Boolean algebra and Boolean expressions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Truth tables and K-Maps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NOT, AND and OR gates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Combinational logic design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Simulation and verification in Logisim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234440"/>
            <a:ext cx="5166360" cy="452628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344168"/>
            <a:ext cx="494690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Extension to digital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19072"/>
            <a:ext cx="4946904" cy="395935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MUX / decoder concepts can be added for multi-road selection.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Comparators can be used for traffic-count thresholds.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Sequential logic can store timing or phase information.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• ALU concepts connect the project to broader digital computer architecture topics.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09728"/>
            <a:ext cx="11914632" cy="6583680"/>
          </a:xfrm>
          <a:prstGeom prst="roundRect">
            <a:avLst/>
          </a:prstGeom>
          <a:noFill/>
          <a:ln w="25400">
            <a:solidFill>
              <a:srgbClr val="78A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09728"/>
            <a:ext cx="11914632" cy="73152"/>
          </a:xfrm>
          <a:prstGeom prst="rect">
            <a:avLst/>
          </a:prstGeom>
          <a:solidFill>
            <a:srgbClr val="23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6144768"/>
            <a:ext cx="11896344" cy="539496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6400800"/>
            <a:ext cx="777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292840" y="347472"/>
            <a:ext cx="438912" cy="1115568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3424" y="448056"/>
            <a:ext cx="228600" cy="22860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3424" y="768096"/>
            <a:ext cx="228600" cy="228600"/>
          </a:xfrm>
          <a:prstGeom prst="ellipse">
            <a:avLst/>
          </a:prstGeom>
          <a:solidFill>
            <a:srgbClr val="E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93424" y="1088136"/>
            <a:ext cx="228600" cy="228600"/>
          </a:xfrm>
          <a:prstGeom prst="ellipse">
            <a:avLst/>
          </a:prstGeom>
          <a:solidFill>
            <a:srgbClr val="3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5B9B"/>
                </a:solidFill>
                <a:latin typeface="Aptos Display"/>
              </a:defRPr>
            </a:pPr>
            <a:r>
              <a:t>18.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325880"/>
            <a:ext cx="9921240" cy="31089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192D46"/>
                </a:solidFill>
                <a:latin typeface="Aptos"/>
              </a:defRPr>
            </a:pPr>
            <a:r>
              <a:t>The Intelligent Traffic Signal Decision System applies combinational logic to traffic-management decisions.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192D46"/>
                </a:solidFill>
                <a:latin typeface="Aptos"/>
              </a:defRPr>
            </a:pPr>
            <a:r>
              <a:t>It converts sensor conditions into binary inputs and processes them using Boolean expressions and logic gates.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192D46"/>
                </a:solidFill>
                <a:latin typeface="Aptos"/>
              </a:defRPr>
            </a:pPr>
            <a:r>
              <a:t>Truth tables and K-Maps provide a systematic method to design and simplify the circuit.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192D46"/>
                </a:solidFill>
                <a:latin typeface="Aptos"/>
              </a:defRPr>
            </a:pPr>
            <a:r>
              <a:t>The Logisim simulation can be used to verify that the outputs match the expected traffic conditions.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192D46"/>
                </a:solidFill>
                <a:latin typeface="Aptos"/>
              </a:defRPr>
            </a:pPr>
            <a:r>
              <a:t>The design can be extended with more lanes, sensors, IoT monitoring, camera inputs, adaptive timing and fault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709160"/>
            <a:ext cx="8229600" cy="1051560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4818888"/>
            <a:ext cx="8010144" cy="3200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35B9B"/>
                </a:solidFill>
                <a:latin typeface="Aptos"/>
              </a:defRPr>
            </a:pPr>
            <a:r>
              <a:t>Project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5193792"/>
            <a:ext cx="8010144" cy="484631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92D46"/>
                </a:solidFill>
                <a:latin typeface="Aptos"/>
              </a:defRPr>
            </a:pPr>
            <a:r>
              <a:t>Sense → Process with combinational logic → Decide → Control traffic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